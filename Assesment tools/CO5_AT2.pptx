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800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418320" y="365760"/>
            <a:ext cx="502920" cy="502920"/>
          </a:xfrm>
          <a:prstGeom prst="rect">
            <a:avLst/>
          </a:prstGeom>
        </p:spPr>
      </p:pic>
      <p:pic>
        <p:nvPicPr>
          <p:cNvPr id="3" name="Image 1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32720" y="365760"/>
            <a:ext cx="502920" cy="502920"/>
          </a:xfrm>
          <a:prstGeom prst="rect">
            <a:avLst/>
          </a:prstGeom>
        </p:spPr>
      </p:pic>
      <p:pic>
        <p:nvPicPr>
          <p:cNvPr id="4" name="Image 2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1247120" y="365760"/>
            <a:ext cx="502920" cy="502920"/>
          </a:xfrm>
          <a:prstGeom prst="rect">
            <a:avLst/>
          </a:prstGeom>
        </p:spPr>
      </p:pic>
      <p:pic>
        <p:nvPicPr>
          <p:cNvPr id="5" name="Image 3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418320" y="1280160"/>
            <a:ext cx="502920" cy="502920"/>
          </a:xfrm>
          <a:prstGeom prst="rect">
            <a:avLst/>
          </a:prstGeom>
        </p:spPr>
      </p:pic>
      <p:pic>
        <p:nvPicPr>
          <p:cNvPr id="6" name="Image 4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32720" y="1280160"/>
            <a:ext cx="502920" cy="502920"/>
          </a:xfrm>
          <a:prstGeom prst="rect">
            <a:avLst/>
          </a:prstGeom>
        </p:spPr>
      </p:pic>
      <p:pic>
        <p:nvPicPr>
          <p:cNvPr id="7" name="Image 5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1247120" y="1280160"/>
            <a:ext cx="502920" cy="502920"/>
          </a:xfrm>
          <a:prstGeom prst="rect">
            <a:avLst/>
          </a:prstGeom>
        </p:spPr>
      </p:pic>
      <p:pic>
        <p:nvPicPr>
          <p:cNvPr id="8" name="Image 6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418320" y="2194560"/>
            <a:ext cx="502920" cy="502920"/>
          </a:xfrm>
          <a:prstGeom prst="rect">
            <a:avLst/>
          </a:prstGeom>
        </p:spPr>
      </p:pic>
      <p:pic>
        <p:nvPicPr>
          <p:cNvPr id="9" name="Image 7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32720" y="2194560"/>
            <a:ext cx="502920" cy="502920"/>
          </a:xfrm>
          <a:prstGeom prst="rect">
            <a:avLst/>
          </a:prstGeom>
        </p:spPr>
      </p:pic>
      <p:pic>
        <p:nvPicPr>
          <p:cNvPr id="10" name="Image 8" descr="./icons/clou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1247120" y="2194560"/>
            <a:ext cx="502920" cy="502920"/>
          </a:xfrm>
          <a:prstGeom prst="rect">
            <a:avLst/>
          </a:prstGeom>
        </p:spPr>
      </p:pic>
      <p:sp>
        <p:nvSpPr>
          <p:cNvPr id="11" name="Text 0"/>
          <p:cNvSpPr txBox="1"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</a:t>
            </a:r>
            <a:endParaRPr lang="en-US" sz="1300" dirty="0"/>
          </a:p>
        </p:txBody>
      </p:sp>
      <p:sp>
        <p:nvSpPr>
          <p:cNvPr id="12" name="Text 1"/>
          <p:cNvSpPr txBox="1"/>
          <p:nvPr/>
        </p:nvSpPr>
        <p:spPr>
          <a:xfrm>
            <a:off x="640080" y="178308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Computing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Function-as-a-Service</a:t>
            </a:r>
            <a:endParaRPr lang="en-US" sz="4000" dirty="0"/>
          </a:p>
        </p:txBody>
      </p:sp>
      <p:sp>
        <p:nvSpPr>
          <p:cNvPr id="13" name="Text 2"/>
          <p:cNvSpPr txBox="1"/>
          <p:nvPr/>
        </p:nvSpPr>
        <p:spPr>
          <a:xfrm>
            <a:off x="640080" y="3429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without managing servers — scale automatically, and pay only for what you use.</a:t>
            </a:r>
            <a:endParaRPr lang="en-US" sz="1600" dirty="0"/>
          </a:p>
        </p:txBody>
      </p:sp>
      <p:sp>
        <p:nvSpPr>
          <p:cNvPr id="14" name="Shape 3"/>
          <p:cNvSpPr/>
          <p:nvPr/>
        </p:nvSpPr>
        <p:spPr>
          <a:xfrm>
            <a:off x="640080" y="420624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3A2E70"/>
          </a:solidFill>
          <a:ln/>
        </p:spPr>
      </p:sp>
      <p:sp>
        <p:nvSpPr>
          <p:cNvPr id="15" name="Text 4"/>
          <p:cNvSpPr txBox="1"/>
          <p:nvPr/>
        </p:nvSpPr>
        <p:spPr>
          <a:xfrm>
            <a:off x="640080" y="4206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50" dirty="0"/>
          </a:p>
        </p:txBody>
      </p:sp>
      <p:sp>
        <p:nvSpPr>
          <p:cNvPr id="16" name="Shape 5"/>
          <p:cNvSpPr/>
          <p:nvPr/>
        </p:nvSpPr>
        <p:spPr>
          <a:xfrm>
            <a:off x="2505456" y="420624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3A2E70"/>
          </a:solidFill>
          <a:ln/>
        </p:spPr>
      </p:sp>
      <p:sp>
        <p:nvSpPr>
          <p:cNvPr id="17" name="Text 6"/>
          <p:cNvSpPr txBox="1"/>
          <p:nvPr/>
        </p:nvSpPr>
        <p:spPr>
          <a:xfrm>
            <a:off x="2505456" y="4206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150" dirty="0"/>
          </a:p>
        </p:txBody>
      </p:sp>
      <p:sp>
        <p:nvSpPr>
          <p:cNvPr id="18" name="Shape 7"/>
          <p:cNvSpPr/>
          <p:nvPr/>
        </p:nvSpPr>
        <p:spPr>
          <a:xfrm>
            <a:off x="4370832" y="4206240"/>
            <a:ext cx="2167128" cy="384048"/>
          </a:xfrm>
          <a:prstGeom prst="roundRect">
            <a:avLst>
              <a:gd name="adj" fmla="val 19048"/>
            </a:avLst>
          </a:prstGeom>
          <a:solidFill>
            <a:srgbClr val="3A2E70"/>
          </a:solidFill>
          <a:ln/>
        </p:spPr>
      </p:sp>
      <p:sp>
        <p:nvSpPr>
          <p:cNvPr id="19" name="Text 8"/>
          <p:cNvSpPr txBox="1"/>
          <p:nvPr/>
        </p:nvSpPr>
        <p:spPr>
          <a:xfrm>
            <a:off x="4370832" y="4206240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Pay-per-execution</a:t>
            </a:r>
            <a:endParaRPr lang="en-US" sz="1150" dirty="0"/>
          </a:p>
        </p:txBody>
      </p:sp>
      <p:sp>
        <p:nvSpPr>
          <p:cNvPr id="20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&amp; Function-as-a-Service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FaaS Execution Lifecycle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event trigger to a billed response — what happens inside a serverless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1FB"/>
          </a:solidFill>
          <a:ln/>
          <a:effectLst>
            <a:outerShdw blurRad="76200" dist="25400" dir="5400000" algn="bl" rotWithShape="0">
              <a:srgbClr val="3A2E7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41B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./icons/bol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3280" y="1920240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19272" y="187452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0" name="Image 1" descr=".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9659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25877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Triggered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91693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 request, file upload, or queue message fires the function.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1FB"/>
          </a:solidFill>
          <a:ln/>
          <a:effectLst>
            <a:outerShdw blurRad="76200" dist="25400" dir="5400000" algn="bl" rotWithShape="0">
              <a:srgbClr val="3A2E7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53712" y="1920240"/>
            <a:ext cx="502920" cy="502920"/>
          </a:xfrm>
          <a:prstGeom prst="ellipse">
            <a:avLst/>
          </a:prstGeom>
          <a:solidFill>
            <a:srgbClr val="241B4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55371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2" descr="./icons/rocke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59752" y="1920240"/>
            <a:ext cx="384048" cy="38404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095744" y="187452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8" name="Image 3" descr="./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19659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53712" y="25877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Invoked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553712" y="291693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allocates an execution environment on demand.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1FB"/>
          </a:solidFill>
          <a:ln/>
          <a:effectLst>
            <a:outerShdw blurRad="76200" dist="25400" dir="5400000" algn="bl" rotWithShape="0">
              <a:srgbClr val="3A2E7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330184" y="1920240"/>
            <a:ext cx="502920" cy="502920"/>
          </a:xfrm>
          <a:prstGeom prst="ellipse">
            <a:avLst/>
          </a:prstGeom>
          <a:solidFill>
            <a:srgbClr val="241B4B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33018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Image 4" descr="./icons/laye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36224" y="1920240"/>
            <a:ext cx="384048" cy="38404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0872216" y="187452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6" name="Image 5" descr="./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656" y="196596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330184" y="25877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Auto-Scaled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8330184" y="291693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spin up in parallel to match incoming demand instantly.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1FB"/>
          </a:solidFill>
          <a:ln/>
          <a:effectLst>
            <a:outerShdw blurRad="76200" dist="25400" dir="5400000" algn="bl" rotWithShape="0">
              <a:srgbClr val="3A2E7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241B4B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2" name="Image 6" descr="./icons/cod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83280" y="4160520"/>
            <a:ext cx="384048" cy="384048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3319272" y="411480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4" name="Image 7" descr=".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4206240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77240" y="4828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Executes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777240" y="51572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runs in an isolated, stateless container.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4325112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1FB"/>
          </a:solidFill>
          <a:ln/>
          <a:effectLst>
            <a:outerShdw blurRad="76200" dist="25400" dir="5400000" algn="bl" rotWithShape="0">
              <a:srgbClr val="3A2E70">
                <a:alpha val="12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4553712" y="4160520"/>
            <a:ext cx="502920" cy="502920"/>
          </a:xfrm>
          <a:prstGeom prst="ellipse">
            <a:avLst/>
          </a:prstGeom>
          <a:solidFill>
            <a:srgbClr val="241B4B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4553712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40" name="Image 8" descr="./icons/reply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59752" y="4160520"/>
            <a:ext cx="384048" cy="384048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7095744" y="411480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42" name="Image 9" descr="./icons/repl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4206240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553712" y="4828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4553712" y="51572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sent back, or it triggers the next step in a workflow.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8101584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1FB"/>
          </a:solidFill>
          <a:ln/>
          <a:effectLst>
            <a:outerShdw blurRad="76200" dist="25400" dir="5400000" algn="bl" rotWithShape="0">
              <a:srgbClr val="3A2E70">
                <a:alpha val="12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8330184" y="4160520"/>
            <a:ext cx="502920" cy="502920"/>
          </a:xfrm>
          <a:prstGeom prst="ellipse">
            <a:avLst/>
          </a:prstGeom>
          <a:solidFill>
            <a:srgbClr val="241B4B"/>
          </a:solidFill>
          <a:ln/>
        </p:spPr>
      </p:sp>
      <p:sp>
        <p:nvSpPr>
          <p:cNvPr id="47" name="Text 35"/>
          <p:cNvSpPr txBox="1"/>
          <p:nvPr/>
        </p:nvSpPr>
        <p:spPr>
          <a:xfrm>
            <a:off x="8330184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48" name="Image 10" descr="./icons/dollar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936224" y="4160520"/>
            <a:ext cx="384048" cy="384048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10872216" y="411480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50" name="Image 11" descr="./icons/doll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3656" y="4206240"/>
            <a:ext cx="292608" cy="29260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330184" y="4828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Per Use</a:t>
            </a:r>
            <a:endParaRPr lang="en-US" sz="1500" dirty="0"/>
          </a:p>
        </p:txBody>
      </p:sp>
      <p:sp>
        <p:nvSpPr>
          <p:cNvPr id="52" name="Text 38"/>
          <p:cNvSpPr txBox="1"/>
          <p:nvPr/>
        </p:nvSpPr>
        <p:spPr>
          <a:xfrm>
            <a:off x="8330184" y="51572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only for execution time and requests — never idle time.</a:t>
            </a:r>
            <a:endParaRPr lang="en-US" sz="1100" dirty="0"/>
          </a:p>
        </p:txBody>
      </p:sp>
      <p:sp>
        <p:nvSpPr>
          <p:cNvPr id="53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&amp; Function-as-a-Service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SERVER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Computing "Serverless"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241B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that runs on demand, without provisioning or managing the underlying servers yourself.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18C7B8"/>
          </a:solidFill>
          <a:ln/>
        </p:spPr>
      </p:sp>
      <p:pic>
        <p:nvPicPr>
          <p:cNvPr id="7" name="Image 0" descr=".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706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26700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management — the cloud provider handles infrastructure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00984"/>
            <a:ext cx="365760" cy="365760"/>
          </a:xfrm>
          <a:prstGeom prst="ellipse">
            <a:avLst/>
          </a:prstGeom>
          <a:solidFill>
            <a:srgbClr val="18C7B8"/>
          </a:solidFill>
          <a:ln/>
        </p:spPr>
      </p:sp>
      <p:pic>
        <p:nvPicPr>
          <p:cNvPr id="10" name="Image 1" descr=".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7413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327355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— functions run only in response to triggers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904488"/>
            <a:ext cx="365760" cy="365760"/>
          </a:xfrm>
          <a:prstGeom prst="ellipse">
            <a:avLst/>
          </a:prstGeom>
          <a:solidFill>
            <a:srgbClr val="18C7B8"/>
          </a:solidFill>
          <a:ln/>
        </p:spPr>
      </p:sp>
      <p:pic>
        <p:nvPicPr>
          <p:cNvPr id="13" name="Image 2" descr="./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7764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87705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 — from zero to thousands of instances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507992"/>
            <a:ext cx="365760" cy="365760"/>
          </a:xfrm>
          <a:prstGeom prst="ellipse">
            <a:avLst/>
          </a:prstGeom>
          <a:solidFill>
            <a:srgbClr val="18C7B8"/>
          </a:solidFill>
          <a:ln/>
        </p:spPr>
      </p:sp>
      <p:pic>
        <p:nvPicPr>
          <p:cNvPr id="16" name="Image 3" descr="./icons/box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5811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51560" y="44805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execution — each invocation starts with a clean environment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6080760" y="1417320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Platforms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080760" y="1828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3F1FB"/>
          </a:solidFill>
          <a:ln/>
        </p:spPr>
      </p:sp>
      <p:sp>
        <p:nvSpPr>
          <p:cNvPr id="20" name="Shape 14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21" name="Image 4" descr="./icons/amaz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215798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28192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6281928" y="2871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mover; deep AWS service integration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961120" y="1828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3F1FB"/>
          </a:solidFill>
          <a:ln/>
        </p:spPr>
      </p:sp>
      <p:sp>
        <p:nvSpPr>
          <p:cNvPr id="25" name="Shape 18"/>
          <p:cNvSpPr/>
          <p:nvPr/>
        </p:nvSpPr>
        <p:spPr>
          <a:xfrm>
            <a:off x="9189720" y="2057400"/>
            <a:ext cx="457200" cy="457200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26" name="Image 5" descr="./icons/microso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215798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622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9162288" y="2871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fit with the Microsoft cloud stack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080760" y="3474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3F1FB"/>
          </a:solidFill>
          <a:ln/>
        </p:spPr>
      </p:sp>
      <p:sp>
        <p:nvSpPr>
          <p:cNvPr id="30" name="Shape 22"/>
          <p:cNvSpPr/>
          <p:nvPr/>
        </p:nvSpPr>
        <p:spPr>
          <a:xfrm>
            <a:off x="6309360" y="3703320"/>
            <a:ext cx="457200" cy="457200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31" name="Image 6" descr="./icons/goog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3803904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81928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Functions</a:t>
            </a:r>
            <a:endParaRPr lang="en-US" sz="1250" dirty="0"/>
          </a:p>
        </p:txBody>
      </p:sp>
      <p:sp>
        <p:nvSpPr>
          <p:cNvPr id="33" name="Text 24"/>
          <p:cNvSpPr txBox="1"/>
          <p:nvPr/>
        </p:nvSpPr>
        <p:spPr>
          <a:xfrm>
            <a:off x="6281928" y="45171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triggers across GCP services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8961120" y="3474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3F1FB"/>
          </a:solidFill>
          <a:ln/>
        </p:spPr>
      </p:sp>
      <p:sp>
        <p:nvSpPr>
          <p:cNvPr id="35" name="Shape 26"/>
          <p:cNvSpPr/>
          <p:nvPr/>
        </p:nvSpPr>
        <p:spPr>
          <a:xfrm>
            <a:off x="9189720" y="3703320"/>
            <a:ext cx="457200" cy="457200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36" name="Image 7" descr="./icons/cloudfla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0304" y="3803904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9162288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250" dirty="0"/>
          </a:p>
        </p:txBody>
      </p:sp>
      <p:sp>
        <p:nvSpPr>
          <p:cNvPr id="38" name="Text 28"/>
          <p:cNvSpPr txBox="1"/>
          <p:nvPr/>
        </p:nvSpPr>
        <p:spPr>
          <a:xfrm>
            <a:off x="9162288" y="45171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the edge, close to users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&amp; Function-as-a-Service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in Practice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241B4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6" name="Image 0" descr="./icons/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562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Functions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28529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single-purpose block of code, deployed independently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685032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566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events, not run continuously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398264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42793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instances up and down automatically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5111496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499262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in sub-second increments of execution time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26280" y="1417320"/>
            <a:ext cx="2212848" cy="1920240"/>
          </a:xfrm>
          <a:prstGeom prst="roundRect">
            <a:avLst>
              <a:gd name="adj" fmla="val 3810"/>
            </a:avLst>
          </a:prstGeom>
          <a:solidFill>
            <a:srgbClr val="F3F1FB"/>
          </a:solidFill>
          <a:ln/>
        </p:spPr>
      </p:sp>
      <p:sp>
        <p:nvSpPr>
          <p:cNvPr id="17" name="Shape 14"/>
          <p:cNvSpPr/>
          <p:nvPr/>
        </p:nvSpPr>
        <p:spPr>
          <a:xfrm>
            <a:off x="4709160" y="1600200"/>
            <a:ext cx="420624" cy="420624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18" name="Image 1" descr=".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70078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90872" y="21305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690872" y="2404872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REST or GraphQL requests without a standing server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958584" y="1417320"/>
            <a:ext cx="2212848" cy="1920240"/>
          </a:xfrm>
          <a:prstGeom prst="roundRect">
            <a:avLst>
              <a:gd name="adj" fmla="val 3810"/>
            </a:avLst>
          </a:prstGeom>
          <a:solidFill>
            <a:srgbClr val="F3F1FB"/>
          </a:solidFill>
          <a:ln/>
        </p:spPr>
      </p:sp>
      <p:sp>
        <p:nvSpPr>
          <p:cNvPr id="22" name="Shape 18"/>
          <p:cNvSpPr/>
          <p:nvPr/>
        </p:nvSpPr>
        <p:spPr>
          <a:xfrm>
            <a:off x="7141464" y="1600200"/>
            <a:ext cx="420624" cy="420624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23" name="Image 2" descr=".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70078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123176" y="21305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7123176" y="2404872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files or stream records as they arrive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9390888" y="1417320"/>
            <a:ext cx="2212848" cy="1920240"/>
          </a:xfrm>
          <a:prstGeom prst="roundRect">
            <a:avLst>
              <a:gd name="adj" fmla="val 3810"/>
            </a:avLst>
          </a:prstGeom>
          <a:solidFill>
            <a:srgbClr val="F3F1FB"/>
          </a:solidFill>
          <a:ln/>
        </p:spPr>
      </p:sp>
      <p:sp>
        <p:nvSpPr>
          <p:cNvPr id="27" name="Shape 22"/>
          <p:cNvSpPr/>
          <p:nvPr/>
        </p:nvSpPr>
        <p:spPr>
          <a:xfrm>
            <a:off x="9573768" y="1600200"/>
            <a:ext cx="420624" cy="420624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28" name="Image 3" descr=".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2" y="170078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555480" y="21305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AI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9555480" y="2404872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 or webhook logic on incoming messages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526280" y="3557016"/>
            <a:ext cx="2212848" cy="1920240"/>
          </a:xfrm>
          <a:prstGeom prst="roundRect">
            <a:avLst>
              <a:gd name="adj" fmla="val 3810"/>
            </a:avLst>
          </a:prstGeom>
          <a:solidFill>
            <a:srgbClr val="F3F1FB"/>
          </a:solidFill>
          <a:ln/>
        </p:spPr>
      </p:sp>
      <p:sp>
        <p:nvSpPr>
          <p:cNvPr id="32" name="Shape 26"/>
          <p:cNvSpPr/>
          <p:nvPr/>
        </p:nvSpPr>
        <p:spPr>
          <a:xfrm>
            <a:off x="4709160" y="3739896"/>
            <a:ext cx="420624" cy="420624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33" name="Image 4" descr="./icons/fileIm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840480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690872" y="427024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Automation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690872" y="4544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uploads — resize images, scan, convert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958584" y="3557016"/>
            <a:ext cx="2212848" cy="1920240"/>
          </a:xfrm>
          <a:prstGeom prst="roundRect">
            <a:avLst>
              <a:gd name="adj" fmla="val 3810"/>
            </a:avLst>
          </a:prstGeom>
          <a:solidFill>
            <a:srgbClr val="F3F1FB"/>
          </a:solidFill>
          <a:ln/>
        </p:spPr>
      </p:sp>
      <p:sp>
        <p:nvSpPr>
          <p:cNvPr id="37" name="Shape 30"/>
          <p:cNvSpPr/>
          <p:nvPr/>
        </p:nvSpPr>
        <p:spPr>
          <a:xfrm>
            <a:off x="7141464" y="3739896"/>
            <a:ext cx="420624" cy="420624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38" name="Image 5" descr="./icons/calendar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2048" y="3840480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123176" y="427024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123176" y="4544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Cron-style jobs like backups and nightly reports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9390888" y="3557016"/>
            <a:ext cx="2212848" cy="1920240"/>
          </a:xfrm>
          <a:prstGeom prst="roundRect">
            <a:avLst>
              <a:gd name="adj" fmla="val 3810"/>
            </a:avLst>
          </a:prstGeom>
          <a:solidFill>
            <a:srgbClr val="F3F1FB"/>
          </a:solidFill>
          <a:ln/>
        </p:spPr>
      </p:sp>
      <p:sp>
        <p:nvSpPr>
          <p:cNvPr id="42" name="Shape 34"/>
          <p:cNvSpPr/>
          <p:nvPr/>
        </p:nvSpPr>
        <p:spPr>
          <a:xfrm>
            <a:off x="9573768" y="3739896"/>
            <a:ext cx="420624" cy="420624"/>
          </a:xfrm>
          <a:prstGeom prst="ellipse">
            <a:avLst/>
          </a:prstGeom>
          <a:solidFill>
            <a:srgbClr val="241B4B"/>
          </a:solidFill>
          <a:ln/>
        </p:spPr>
      </p:sp>
      <p:pic>
        <p:nvPicPr>
          <p:cNvPr id="43" name="Image 6" descr="./icons/mob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4352" y="3840480"/>
            <a:ext cx="219456" cy="219456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9555480" y="427024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IoT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9555480" y="4544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endpoints for device and app backends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&amp; Function-as-a-Service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Advantages, Challenges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3A2E70"/>
          </a:solidFill>
          <a:ln/>
        </p:spPr>
      </p:sp>
      <p:pic>
        <p:nvPicPr>
          <p:cNvPr id="5" name="Image 0" descr=".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36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417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75688"/>
            <a:ext cx="146304" cy="146304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management — infrastructure is fully abstracted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42616"/>
            <a:ext cx="146304" cy="146304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5328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 handles traffic spikes with no intervention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09544"/>
            <a:ext cx="146304" cy="146304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0998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Pay-per-execution cost model, not idle capacity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776472"/>
            <a:ext cx="146304" cy="146304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6667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to market for small, independent features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3A2E70"/>
          </a:solidFill>
          <a:ln/>
        </p:spPr>
      </p:sp>
      <p:pic>
        <p:nvPicPr>
          <p:cNvPr id="16" name="Image 1" descr=".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53619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675120" y="1417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172200" y="2075688"/>
            <a:ext cx="146304" cy="146304"/>
          </a:xfrm>
          <a:prstGeom prst="ellipse">
            <a:avLst/>
          </a:prstGeom>
          <a:solidFill>
            <a:srgbClr val="C97A1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4652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latency on infrequently invoked functions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72200" y="2642616"/>
            <a:ext cx="146304" cy="146304"/>
          </a:xfrm>
          <a:prstGeom prst="ellipse">
            <a:avLst/>
          </a:prstGeom>
          <a:solidFill>
            <a:srgbClr val="C97A1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46520" y="25328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around provider-specific APIs and tooling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72200" y="3209544"/>
            <a:ext cx="146304" cy="146304"/>
          </a:xfrm>
          <a:prstGeom prst="ellipse">
            <a:avLst/>
          </a:prstGeom>
          <a:solidFill>
            <a:srgbClr val="C97A1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46520" y="30998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and memory limits constrain workloads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3776472"/>
            <a:ext cx="146304" cy="146304"/>
          </a:xfrm>
          <a:prstGeom prst="ellipse">
            <a:avLst/>
          </a:prstGeom>
          <a:solidFill>
            <a:srgbClr val="C97A1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446520" y="36667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functions are harder to debug and monitor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3A2E7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22960" y="4782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shifts the unit of deployment from the server to the function. By handing scaling, provisioning, and idle cost to the platform, teams ship features faster — trading some control and predictability for that convenience.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&amp; Function-as-a-Service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Widescreen</PresentationFormat>
  <Paragraphs>87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ullelasomeshkumar@gmail.com</cp:lastModifiedBy>
  <cp:revision>1</cp:revision>
  <dcterms:created xsi:type="dcterms:W3CDTF">2026-08-26T06:04:53Z</dcterms:created>
  <dcterms:modified xsi:type="dcterms:W3CDTF">2026-08-26T06:06:15Z</dcterms:modified>
</cp:coreProperties>
</file>